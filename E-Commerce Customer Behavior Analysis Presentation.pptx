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7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83800" cy="75559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3343" y="1844039"/>
            <a:ext cx="3115055" cy="31120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1259" y="0"/>
            <a:ext cx="1770888" cy="12618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3343" y="6713219"/>
            <a:ext cx="1098803" cy="8427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935223"/>
            <a:ext cx="4454652" cy="462076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188207"/>
            <a:ext cx="1682495" cy="260908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4369" y="0"/>
            <a:ext cx="851001" cy="12841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4548" y="88392"/>
            <a:ext cx="8831580" cy="4690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083800" cy="75559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43343" y="1844039"/>
            <a:ext cx="3115055" cy="31120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71259" y="0"/>
            <a:ext cx="1770888" cy="12618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43343" y="6713219"/>
            <a:ext cx="1098803" cy="8427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935223"/>
            <a:ext cx="4454652" cy="462076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3188207"/>
            <a:ext cx="1682495" cy="260908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94369" y="0"/>
            <a:ext cx="851001" cy="12841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240" y="62230"/>
            <a:ext cx="7962900" cy="115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440" y="1548256"/>
            <a:ext cx="8870315" cy="53021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27545"/>
            <a:ext cx="3226816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9769" y="1726692"/>
            <a:ext cx="8297545" cy="1536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61645">
              <a:lnSpc>
                <a:spcPct val="107800"/>
              </a:lnSpc>
              <a:spcBef>
                <a:spcPts val="90"/>
              </a:spcBef>
            </a:pPr>
            <a:r>
              <a:rPr b="1" spc="-250" dirty="0">
                <a:latin typeface="Tahoma"/>
                <a:cs typeface="Tahoma"/>
              </a:rPr>
              <a:t>E-</a:t>
            </a:r>
            <a:r>
              <a:rPr b="1" spc="315" dirty="0">
                <a:latin typeface="Tahoma"/>
                <a:cs typeface="Tahoma"/>
              </a:rPr>
              <a:t>Commerce</a:t>
            </a:r>
            <a:r>
              <a:rPr b="1" spc="10" dirty="0">
                <a:latin typeface="Tahoma"/>
                <a:cs typeface="Tahoma"/>
              </a:rPr>
              <a:t> </a:t>
            </a:r>
            <a:r>
              <a:rPr b="1" spc="40" dirty="0">
                <a:latin typeface="Tahoma"/>
                <a:cs typeface="Tahoma"/>
              </a:rPr>
              <a:t>Customer </a:t>
            </a:r>
            <a:r>
              <a:rPr b="1" dirty="0">
                <a:latin typeface="Tahoma"/>
                <a:cs typeface="Tahoma"/>
              </a:rPr>
              <a:t>Purchase</a:t>
            </a:r>
            <a:r>
              <a:rPr b="1" spc="-125" dirty="0">
                <a:latin typeface="Tahoma"/>
                <a:cs typeface="Tahoma"/>
              </a:rPr>
              <a:t> </a:t>
            </a:r>
            <a:r>
              <a:rPr b="1" spc="-105" dirty="0">
                <a:latin typeface="Tahoma"/>
                <a:cs typeface="Tahoma"/>
              </a:rPr>
              <a:t>Behaviour</a:t>
            </a:r>
            <a:r>
              <a:rPr b="1" spc="-13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9660" y="3789044"/>
            <a:ext cx="456755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123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Tahoma"/>
                <a:cs typeface="Tahoma"/>
              </a:rPr>
              <a:t>Presented</a:t>
            </a:r>
            <a:r>
              <a:rPr sz="1600" spc="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ahoma"/>
                <a:cs typeface="Tahoma"/>
              </a:rPr>
              <a:t>By: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Megh</a:t>
            </a:r>
            <a:r>
              <a:rPr sz="18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Harshad</a:t>
            </a:r>
            <a:r>
              <a:rPr sz="18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Malvankar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(EN12026093826)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9660" y="4531995"/>
            <a:ext cx="2425065" cy="5848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3899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Pranav</a:t>
            </a:r>
            <a:r>
              <a:rPr sz="18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Prakash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Bhosale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Vaibhav</a:t>
            </a:r>
            <a:r>
              <a:rPr sz="18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Satish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Wairkar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9840" y="4531995"/>
            <a:ext cx="1858010" cy="5848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0480" marR="5080" indent="-18415">
              <a:lnSpc>
                <a:spcPct val="103899"/>
              </a:lnSpc>
              <a:spcBef>
                <a:spcPts val="15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(EN12026093850)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(EN12026093851)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2310" y="5342254"/>
            <a:ext cx="2183130" cy="87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Guide:</a:t>
            </a:r>
            <a:r>
              <a:rPr sz="1800" spc="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Ashish</a:t>
            </a:r>
            <a:r>
              <a:rPr sz="1800" spc="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Rajput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Tools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Used: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Power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BI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1241425" algn="l">
              <a:lnSpc>
                <a:spcPct val="100000"/>
              </a:lnSpc>
              <a:spcBef>
                <a:spcPts val="130"/>
              </a:spcBef>
            </a:pPr>
            <a:r>
              <a:rPr spc="-25" dirty="0"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2440" y="1548256"/>
            <a:ext cx="8870315" cy="4926862"/>
          </a:xfrm>
          <a:prstGeom prst="rect">
            <a:avLst/>
          </a:prstGeom>
        </p:spPr>
        <p:txBody>
          <a:bodyPr vert="horz" wrap="square" lIns="0" tIns="434213" rIns="0" bIns="0" rtlCol="0">
            <a:spAutoFit/>
          </a:bodyPr>
          <a:lstStyle/>
          <a:p>
            <a:pPr marL="355600" marR="456565" indent="-3429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355600" algn="l"/>
              </a:tabLst>
            </a:pP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ymbol"/>
              <a:buChar char=""/>
            </a:pP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5080" indent="-342900">
              <a:lnSpc>
                <a:spcPct val="100000"/>
              </a:lnSpc>
              <a:buFont typeface="Symbol"/>
              <a:buChar char=""/>
              <a:tabLst>
                <a:tab pos="355600" algn="l"/>
              </a:tabLst>
            </a:pP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ymbol"/>
              <a:buChar char=""/>
            </a:pP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1304290" indent="-342900">
              <a:lnSpc>
                <a:spcPct val="100000"/>
              </a:lnSpc>
              <a:buFont typeface="Symbol"/>
              <a:buChar char=""/>
              <a:tabLst>
                <a:tab pos="355600" algn="l"/>
              </a:tabLst>
            </a:pP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ymbol"/>
              <a:buChar char=""/>
            </a:pP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372745" indent="-342900">
              <a:lnSpc>
                <a:spcPct val="100000"/>
              </a:lnSpc>
              <a:buFont typeface="Symbol"/>
              <a:buChar char=""/>
              <a:tabLst>
                <a:tab pos="355600" algn="l"/>
              </a:tabLst>
            </a:pP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ymbol"/>
              <a:buChar char=""/>
            </a:pP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5600" marR="342900" indent="-342900">
              <a:lnSpc>
                <a:spcPct val="100000"/>
              </a:lnSpc>
              <a:buFont typeface="Symbol"/>
              <a:buChar char=""/>
              <a:tabLst>
                <a:tab pos="355600" algn="l"/>
              </a:tabLst>
            </a:pP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800" spc="-2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8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800" spc="-2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800" spc="-22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800" spc="-2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2225"/>
              </a:spcBef>
              <a:buFont typeface="Tahoma"/>
              <a:buChar char="•"/>
              <a:tabLst>
                <a:tab pos="354965" algn="l"/>
              </a:tabLst>
            </a:pP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Goal:</a:t>
            </a:r>
            <a:r>
              <a:rPr sz="1800" spc="-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</a:t>
            </a:r>
            <a:r>
              <a:rPr sz="1800" spc="-1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</a:t>
            </a:r>
            <a:r>
              <a:rPr sz="18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</a:t>
            </a:r>
            <a:r>
              <a:rPr sz="1800" spc="-1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</a:t>
            </a:r>
            <a:r>
              <a:rPr sz="18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</a:t>
            </a:r>
            <a:r>
              <a:rPr sz="18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18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8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insights.</a:t>
            </a:r>
            <a:endParaRPr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30"/>
              </a:spcBef>
            </a:pPr>
            <a:r>
              <a:rPr dirty="0"/>
              <a:t>Dataset</a:t>
            </a:r>
            <a:r>
              <a:rPr spc="-165" dirty="0"/>
              <a:t> </a:t>
            </a:r>
            <a:r>
              <a:rPr spc="-7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049" y="1715109"/>
            <a:ext cx="164465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049" y="3219703"/>
            <a:ext cx="164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74" y="1739925"/>
            <a:ext cx="8425815" cy="11461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10"/>
              </a:spcBef>
            </a:pP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Name: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Brazilian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E-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Commerce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2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Dataset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2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Olist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Source: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Kaggle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4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Period: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2016–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2018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874" y="3246411"/>
            <a:ext cx="3039745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sz="2400" spc="4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Available: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0"/>
              </a:spcBef>
              <a:buChar char="•"/>
              <a:tabLst>
                <a:tab pos="193675" algn="l"/>
              </a:tabLst>
            </a:pP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Details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0"/>
              </a:spcBef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Order</a:t>
            </a:r>
            <a:r>
              <a:rPr sz="2400" spc="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5"/>
              </a:spcBef>
              <a:buChar char="•"/>
              <a:tabLst>
                <a:tab pos="193675" algn="l"/>
              </a:tabLst>
            </a:pP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2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Details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0"/>
              </a:spcBef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Seller</a:t>
            </a:r>
            <a:r>
              <a:rPr sz="2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0"/>
              </a:spcBef>
              <a:buChar char="•"/>
              <a:tabLst>
                <a:tab pos="193675" algn="l"/>
              </a:tabLst>
            </a:pP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Payment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Methods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5"/>
              </a:spcBef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Delivery</a:t>
            </a:r>
            <a:r>
              <a:rPr sz="24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193675" indent="-180975">
              <a:lnSpc>
                <a:spcPct val="100000"/>
              </a:lnSpc>
              <a:spcBef>
                <a:spcPts val="80"/>
              </a:spcBef>
              <a:buChar char="•"/>
              <a:tabLst>
                <a:tab pos="193675" algn="l"/>
              </a:tabLst>
            </a:pP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Product</a:t>
            </a:r>
            <a:r>
              <a:rPr sz="2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Categories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124142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Project</a:t>
            </a:r>
            <a:r>
              <a:rPr spc="-385" dirty="0"/>
              <a:t> </a:t>
            </a:r>
            <a:r>
              <a:rPr spc="-20" dirty="0"/>
              <a:t>Flow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6273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Dataset</a:t>
            </a:r>
            <a:r>
              <a:rPr spc="-10" dirty="0"/>
              <a:t> </a:t>
            </a:r>
            <a:r>
              <a:rPr spc="40" dirty="0"/>
              <a:t>Collection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Cleaning</a:t>
            </a:r>
          </a:p>
          <a:p>
            <a:pPr marL="513715">
              <a:lnSpc>
                <a:spcPct val="100000"/>
              </a:lnSpc>
              <a:spcBef>
                <a:spcPts val="85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Preparation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5"/>
              </a:spcBef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Analysis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spc="90" dirty="0"/>
              <a:t>Customer</a:t>
            </a:r>
            <a:r>
              <a:rPr spc="130" dirty="0"/>
              <a:t> </a:t>
            </a:r>
            <a:r>
              <a:rPr dirty="0"/>
              <a:t>Behavior</a:t>
            </a:r>
            <a:r>
              <a:rPr spc="25" dirty="0"/>
              <a:t> </a:t>
            </a:r>
            <a:r>
              <a:rPr spc="-10" dirty="0"/>
              <a:t>Analysis</a:t>
            </a:r>
          </a:p>
          <a:p>
            <a:pPr marL="513715">
              <a:lnSpc>
                <a:spcPct val="100000"/>
              </a:lnSpc>
              <a:spcBef>
                <a:spcPts val="85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dirty="0"/>
              <a:t>Dashboard</a:t>
            </a:r>
            <a:r>
              <a:rPr spc="254" dirty="0"/>
              <a:t> </a:t>
            </a:r>
            <a:r>
              <a:rPr spc="-10" dirty="0"/>
              <a:t>Creation</a:t>
            </a:r>
          </a:p>
          <a:p>
            <a:pPr marL="513715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↓</a:t>
            </a:r>
          </a:p>
          <a:p>
            <a:pPr marL="513715">
              <a:lnSpc>
                <a:spcPct val="100000"/>
              </a:lnSpc>
              <a:spcBef>
                <a:spcPts val="85"/>
              </a:spcBef>
            </a:pPr>
            <a:r>
              <a:rPr spc="50" dirty="0"/>
              <a:t>Business</a:t>
            </a:r>
            <a:r>
              <a:rPr spc="100" dirty="0"/>
              <a:t> </a:t>
            </a:r>
            <a:r>
              <a:rPr dirty="0"/>
              <a:t>Insights</a:t>
            </a:r>
            <a:r>
              <a:rPr spc="8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40" dirty="0"/>
              <a:t>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42989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Project</a:t>
            </a:r>
            <a:r>
              <a:rPr spc="-385" dirty="0"/>
              <a:t> </a:t>
            </a:r>
            <a:r>
              <a:rPr spc="5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4089" y="1548256"/>
            <a:ext cx="7853045" cy="31800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00"/>
              </a:spcBef>
              <a:buClr>
                <a:srgbClr val="ACD333"/>
              </a:buClr>
              <a:buSzPct val="78846"/>
              <a:buFont typeface="Arial MT"/>
              <a:buChar char="•"/>
              <a:tabLst>
                <a:tab pos="469265" algn="l"/>
              </a:tabLst>
            </a:pPr>
            <a:r>
              <a:rPr sz="2600" spc="16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Preparation</a:t>
            </a:r>
            <a:r>
              <a:rPr sz="2600" spc="14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9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Transformation</a:t>
            </a:r>
            <a:endParaRPr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ACD333"/>
              </a:buClr>
              <a:buSzPct val="78846"/>
              <a:buFont typeface="Arial MT"/>
              <a:buChar char="•"/>
              <a:tabLst>
                <a:tab pos="469265" algn="l"/>
              </a:tabLst>
            </a:pPr>
            <a:r>
              <a:rPr sz="2600" spc="16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6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Modeling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9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</a:t>
            </a:r>
            <a:endParaRPr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ACD333"/>
              </a:buClr>
              <a:buSzPct val="78846"/>
              <a:buFont typeface="Arial MT"/>
              <a:buChar char="•"/>
              <a:tabLst>
                <a:tab pos="469265" algn="l"/>
              </a:tabLst>
            </a:pPr>
            <a:r>
              <a:rPr sz="2600" spc="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2600" spc="1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Purchase</a:t>
            </a:r>
            <a:r>
              <a:rPr sz="2600" spc="1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6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</a:t>
            </a:r>
            <a:endParaRPr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9900" marR="713740" indent="-457200">
              <a:lnSpc>
                <a:spcPct val="100000"/>
              </a:lnSpc>
              <a:spcBef>
                <a:spcPts val="600"/>
              </a:spcBef>
              <a:buClr>
                <a:srgbClr val="ACD333"/>
              </a:buClr>
              <a:buSzPct val="78846"/>
              <a:buFont typeface="Arial MT"/>
              <a:buChar char="•"/>
              <a:tabLst>
                <a:tab pos="469900" algn="l"/>
              </a:tabLst>
            </a:pPr>
            <a:r>
              <a:rPr sz="2600" spc="-8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</a:t>
            </a:r>
            <a:r>
              <a:rPr sz="2600" spc="-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9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600" spc="-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Insight </a:t>
            </a:r>
            <a:r>
              <a:rPr sz="2600" spc="1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Generation</a:t>
            </a:r>
            <a:endParaRPr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Clr>
                <a:srgbClr val="ACD333"/>
              </a:buClr>
              <a:buSzPct val="78846"/>
              <a:buFont typeface="Arial MT"/>
              <a:buChar char="•"/>
              <a:tabLst>
                <a:tab pos="469900" algn="l"/>
              </a:tabLst>
            </a:pPr>
            <a:r>
              <a:rPr sz="2600" spc="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Interactive</a:t>
            </a:r>
            <a:r>
              <a:rPr sz="2600" spc="1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Dashboard </a:t>
            </a:r>
            <a:r>
              <a:rPr sz="2600" spc="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</a:t>
            </a:r>
            <a:r>
              <a:rPr sz="2600" spc="1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600" spc="1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26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Storytelling</a:t>
            </a:r>
            <a:endParaRPr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Objective</a:t>
            </a:r>
            <a:r>
              <a:rPr sz="24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1: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400" b="1" spc="10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400" b="1" spc="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35" dirty="0">
                <a:solidFill>
                  <a:srgbClr val="FFFFFF"/>
                </a:solidFill>
                <a:latin typeface="Arial"/>
                <a:cs typeface="Arial"/>
              </a:rPr>
              <a:t>Preparation</a:t>
            </a:r>
            <a:r>
              <a:rPr sz="2400" b="1" spc="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b="1" spc="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120" dirty="0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1" y="1415796"/>
            <a:ext cx="9585960" cy="3982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7525" y="5812790"/>
            <a:ext cx="594423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175" indent="-117475">
              <a:lnSpc>
                <a:spcPct val="100000"/>
              </a:lnSpc>
              <a:spcBef>
                <a:spcPts val="105"/>
              </a:spcBef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Imported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tables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BI.</a:t>
            </a:r>
            <a:endParaRPr sz="14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Removed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duplicate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null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records.</a:t>
            </a:r>
            <a:endParaRPr sz="14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Corrected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standardized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formats.</a:t>
            </a:r>
            <a:endParaRPr sz="1400">
              <a:latin typeface="Arial"/>
              <a:cs typeface="Arial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Performed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renaming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Query.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" y="62230"/>
            <a:ext cx="7962900" cy="905376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Objective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2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: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0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Data</a:t>
            </a:r>
            <a:r>
              <a:rPr sz="2400" b="1" spc="3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Modeling</a:t>
            </a:r>
            <a:r>
              <a:rPr sz="2400" b="1" spc="3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and</a:t>
            </a:r>
            <a:r>
              <a:rPr sz="2400" b="1" spc="3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2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Relationship </a:t>
            </a:r>
            <a:r>
              <a:rPr sz="2400" b="1" spc="1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Building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040" y="6144895"/>
            <a:ext cx="7846060" cy="879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" indent="-163830">
              <a:lnSpc>
                <a:spcPts val="1839"/>
              </a:lnSpc>
              <a:buSzPct val="128571"/>
              <a:buFont typeface="Tahoma"/>
              <a:buChar char="*"/>
              <a:tabLst>
                <a:tab pos="176530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Created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relationships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</a:t>
            </a:r>
            <a:r>
              <a:rPr sz="1400" b="1" spc="-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ID,</a:t>
            </a:r>
            <a:r>
              <a:rPr sz="1400" b="1" spc="-2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ID,</a:t>
            </a:r>
            <a:r>
              <a:rPr sz="1400" b="1" spc="-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1400" b="1" spc="-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1400" b="1" spc="-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Seller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ts val="1655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Implemented</a:t>
            </a:r>
            <a:r>
              <a:rPr sz="1400" b="1" spc="-4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Schema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Validated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integrity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accurate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Developed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calculated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columns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measures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1126236"/>
            <a:ext cx="9369552" cy="4625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" y="62230"/>
            <a:ext cx="79629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Objective</a:t>
            </a:r>
            <a:r>
              <a:rPr sz="24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3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:</a:t>
            </a:r>
            <a:r>
              <a:rPr sz="24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2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Customer</a:t>
            </a:r>
            <a:r>
              <a:rPr sz="2400" b="1" spc="29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Purchase</a:t>
            </a:r>
            <a:r>
              <a:rPr sz="2400" b="1" spc="3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14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Behavior Analysis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31" y="882396"/>
            <a:ext cx="8964168" cy="48966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8640" y="6087745"/>
            <a:ext cx="891286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8590" indent="-135890">
              <a:lnSpc>
                <a:spcPct val="100000"/>
              </a:lnSpc>
              <a:spcBef>
                <a:spcPts val="95"/>
              </a:spcBef>
              <a:buChar char="*"/>
              <a:tabLst>
                <a:tab pos="148590" algn="l"/>
              </a:tabLst>
            </a:pP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Identified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customers.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0970" indent="-128270">
              <a:lnSpc>
                <a:spcPct val="100000"/>
              </a:lnSpc>
              <a:buChar char="*"/>
              <a:tabLst>
                <a:tab pos="140970" algn="l"/>
              </a:tabLst>
            </a:pP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Analyzed</a:t>
            </a:r>
            <a:r>
              <a:rPr sz="16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16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</a:t>
            </a:r>
            <a:r>
              <a:rPr sz="16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sz="16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revenue.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8590" indent="-135890">
              <a:lnSpc>
                <a:spcPct val="100000"/>
              </a:lnSpc>
              <a:buChar char="*"/>
              <a:tabLst>
                <a:tab pos="148590" algn="l"/>
              </a:tabLst>
            </a:pP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Studied</a:t>
            </a:r>
            <a:r>
              <a:rPr sz="16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16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</a:t>
            </a:r>
            <a:r>
              <a:rPr sz="16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distribution.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8590" indent="-135890">
              <a:lnSpc>
                <a:spcPct val="100000"/>
              </a:lnSpc>
              <a:buChar char="*"/>
              <a:tabLst>
                <a:tab pos="148590" algn="l"/>
              </a:tabLst>
            </a:pP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Examined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preferred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methods.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8590" indent="-135890">
              <a:lnSpc>
                <a:spcPct val="100000"/>
              </a:lnSpc>
              <a:buChar char="*"/>
              <a:tabLst>
                <a:tab pos="148590" algn="l"/>
              </a:tabLst>
            </a:pP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Evaluated</a:t>
            </a:r>
            <a:r>
              <a:rPr sz="16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repeat</a:t>
            </a:r>
            <a:r>
              <a:rPr sz="1600" b="1" spc="-6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purchase</a:t>
            </a:r>
            <a:r>
              <a:rPr sz="1600" b="1" spc="-6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" y="62230"/>
            <a:ext cx="7962900" cy="948977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9144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Objective</a:t>
            </a:r>
            <a:r>
              <a:rPr sz="24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4</a:t>
            </a:r>
            <a:r>
              <a:rPr sz="24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:</a:t>
            </a:r>
            <a:r>
              <a:rPr sz="24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9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KPI</a:t>
            </a:r>
            <a:r>
              <a:rPr sz="2400" b="1" spc="3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Development</a:t>
            </a:r>
            <a:r>
              <a:rPr sz="2400" b="1" spc="30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and</a:t>
            </a:r>
            <a:r>
              <a:rPr sz="2400" b="1" spc="3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14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Business </a:t>
            </a:r>
            <a:r>
              <a:rPr sz="2400" b="1" spc="1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Insight</a:t>
            </a:r>
            <a:r>
              <a:rPr sz="2400" b="1" spc="31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 </a:t>
            </a:r>
            <a:r>
              <a:rPr sz="2400" b="1" spc="12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</a:rPr>
              <a:t>Generation</a:t>
            </a:r>
            <a:endParaRPr sz="2400">
              <a:latin typeface="Verdana" panose="020B0604030504040204" pitchFamily="34" charset="0"/>
              <a:ea typeface="Verdana" panose="020B0604030504040204" pitchFamily="34" charset="0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591" y="1568196"/>
            <a:ext cx="8833104" cy="5137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" y="4868545"/>
            <a:ext cx="7769860" cy="23961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KPIs</a:t>
            </a:r>
            <a:r>
              <a:rPr sz="14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Developed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</a:t>
            </a:r>
            <a:r>
              <a:rPr sz="14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</a:t>
            </a:r>
            <a:r>
              <a:rPr sz="14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</a:t>
            </a:r>
            <a:r>
              <a:rPr sz="1400" b="1" spc="-7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Customers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3189" indent="-110489">
              <a:lnSpc>
                <a:spcPct val="100000"/>
              </a:lnSpc>
              <a:buChar char="*"/>
              <a:tabLst>
                <a:tab pos="123189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</a:t>
            </a:r>
            <a:r>
              <a:rPr sz="1400" b="1" spc="-7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</a:t>
            </a:r>
            <a:r>
              <a:rPr sz="1400" b="1" spc="-6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</a:t>
            </a:r>
            <a:r>
              <a:rPr sz="1400" b="1" spc="-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1400" b="1" spc="-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Arial"/>
              <a:buChar char="*"/>
            </a:pP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sz="1400" b="1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Influencers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identified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affecting</a:t>
            </a:r>
            <a:r>
              <a:rPr sz="1400" b="1" spc="-3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30175" indent="-117475">
              <a:lnSpc>
                <a:spcPct val="100000"/>
              </a:lnSpc>
              <a:buChar char="*"/>
              <a:tabLst>
                <a:tab pos="130175" algn="l"/>
              </a:tabLst>
            </a:pP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Decomposition</a:t>
            </a:r>
            <a:r>
              <a:rPr sz="1400" b="1" spc="-4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enabled</a:t>
            </a:r>
            <a:r>
              <a:rPr sz="1400" b="1" spc="-4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root-</a:t>
            </a:r>
            <a:r>
              <a:rPr sz="1400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cause</a:t>
            </a:r>
            <a:r>
              <a:rPr sz="1400" b="1" spc="-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analysis.</a:t>
            </a:r>
            <a:endParaRPr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440" y="196215"/>
            <a:ext cx="78460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Objective</a:t>
            </a:r>
            <a:r>
              <a:rPr sz="2400" b="1" u="heavy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u="heavy" spc="-1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5</a:t>
            </a:r>
            <a:r>
              <a:rPr sz="2400" b="1" u="heavy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u="heavy" spc="-2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:</a:t>
            </a:r>
            <a:r>
              <a:rPr sz="2400" b="1" u="heavy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spc="4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Interactive</a:t>
            </a:r>
            <a:r>
              <a:rPr sz="2400" b="1" spc="26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spc="1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Dashboard </a:t>
            </a:r>
            <a:r>
              <a:rPr sz="2400" b="1" spc="10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Development</a:t>
            </a:r>
            <a:r>
              <a:rPr sz="2400" b="1" spc="29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spc="13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and</a:t>
            </a:r>
            <a:r>
              <a:rPr sz="2400" b="1" spc="29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Storytelling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6991" y="1263396"/>
            <a:ext cx="9584690" cy="5847715"/>
            <a:chOff x="316991" y="1263396"/>
            <a:chExt cx="9584690" cy="5847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1" y="1263396"/>
              <a:ext cx="9584436" cy="3136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991" y="4387596"/>
              <a:ext cx="9563100" cy="27233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1185545">
              <a:lnSpc>
                <a:spcPct val="100000"/>
              </a:lnSpc>
              <a:spcBef>
                <a:spcPts val="130"/>
              </a:spcBef>
            </a:pPr>
            <a:r>
              <a:rPr dirty="0"/>
              <a:t>GenAI</a:t>
            </a:r>
            <a:r>
              <a:rPr spc="-390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049" y="1669097"/>
            <a:ext cx="5665470" cy="3424554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1045"/>
              </a:spcBef>
              <a:buChar char="•"/>
              <a:tabLst>
                <a:tab pos="391160" algn="l"/>
              </a:tabLst>
            </a:pP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Understanding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dataset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structure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Generating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ahoma"/>
                <a:cs typeface="Tahoma"/>
              </a:rPr>
              <a:t>documentation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statements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0"/>
              </a:spcBef>
              <a:buChar char="•"/>
              <a:tabLst>
                <a:tab pos="391160" algn="l"/>
              </a:tabLst>
            </a:pP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Improving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storytelling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4"/>
              </a:spcBef>
              <a:buChar char="•"/>
              <a:tabLst>
                <a:tab pos="391160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Preparing</a:t>
            </a:r>
            <a:r>
              <a:rPr sz="2400" spc="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r>
              <a:rPr sz="24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ahoma"/>
                <a:cs typeface="Tahoma"/>
              </a:rPr>
              <a:t>content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Generating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insights</a:t>
            </a:r>
            <a:r>
              <a:rPr sz="2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explanations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0"/>
              </a:spcBef>
              <a:buChar char="•"/>
              <a:tabLst>
                <a:tab pos="391160" algn="l"/>
              </a:tabLst>
            </a:pP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Assisting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writing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556260">
              <a:lnSpc>
                <a:spcPct val="100000"/>
              </a:lnSpc>
              <a:spcBef>
                <a:spcPts val="130"/>
              </a:spcBef>
            </a:pPr>
            <a:r>
              <a:rPr spc="60" dirty="0"/>
              <a:t>Challenges</a:t>
            </a:r>
            <a:r>
              <a:rPr spc="-409" dirty="0"/>
              <a:t> </a:t>
            </a:r>
            <a:r>
              <a:rPr spc="265" dirty="0"/>
              <a:t>Faced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048" y="1669097"/>
            <a:ext cx="7962899" cy="3424554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1045"/>
              </a:spcBef>
              <a:buChar char="•"/>
              <a:tabLst>
                <a:tab pos="391160" algn="l"/>
              </a:tabLst>
            </a:pP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Missing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data in</a:t>
            </a:r>
            <a:r>
              <a:rPr sz="2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records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Duplicate</a:t>
            </a:r>
            <a:r>
              <a:rPr sz="24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entries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125" dirty="0">
                <a:solidFill>
                  <a:srgbClr val="FFFFFF"/>
                </a:solidFill>
                <a:latin typeface="Tahoma"/>
                <a:cs typeface="Tahoma"/>
              </a:rPr>
              <a:t>Combining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datasets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0"/>
              </a:spcBef>
              <a:buChar char="•"/>
              <a:tabLst>
                <a:tab pos="391160" algn="l"/>
              </a:tabLst>
            </a:pP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Maintaining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2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consistency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4"/>
              </a:spcBef>
              <a:buChar char="•"/>
              <a:tabLst>
                <a:tab pos="391160" algn="l"/>
              </a:tabLst>
            </a:pP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Understanding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ahoma"/>
                <a:cs typeface="Tahoma"/>
              </a:rPr>
              <a:t>buying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patterns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5"/>
              </a:spcBef>
              <a:buChar char="•"/>
              <a:tabLst>
                <a:tab pos="391160" algn="l"/>
              </a:tabLst>
            </a:pP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Creating</a:t>
            </a:r>
            <a:r>
              <a:rPr sz="2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ahoma"/>
                <a:cs typeface="Tahoma"/>
              </a:rPr>
              <a:t>meaningful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visualizations</a:t>
            </a:r>
            <a:endParaRPr sz="2400" dirty="0">
              <a:latin typeface="Tahoma"/>
              <a:cs typeface="Tahoma"/>
            </a:endParaRPr>
          </a:p>
          <a:p>
            <a:pPr marL="391160" indent="-378460">
              <a:lnSpc>
                <a:spcPct val="100000"/>
              </a:lnSpc>
              <a:spcBef>
                <a:spcPts val="940"/>
              </a:spcBef>
              <a:buChar char="•"/>
              <a:tabLst>
                <a:tab pos="391160" algn="l"/>
              </a:tabLst>
            </a:pP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Identifying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revenue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factors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05" rIns="0" bIns="0" rtlCol="0">
            <a:spAutoFit/>
          </a:bodyPr>
          <a:lstStyle/>
          <a:p>
            <a:pPr marL="145161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048" y="1806321"/>
            <a:ext cx="9170251" cy="48113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90525" marR="1071880" indent="-377825">
              <a:lnSpc>
                <a:spcPct val="101000"/>
              </a:lnSpc>
              <a:spcBef>
                <a:spcPts val="70"/>
              </a:spcBef>
              <a:buChar char="•"/>
              <a:tabLst>
                <a:tab pos="39052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project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successfully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analyzed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customer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purchase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behavior.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FFFFFF"/>
              </a:buClr>
              <a:buFont typeface="Tahoma"/>
              <a:buChar char="•"/>
            </a:pPr>
            <a:endParaRPr sz="24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5"/>
              </a:spcBef>
              <a:buChar char="•"/>
              <a:tabLst>
                <a:tab pos="389890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24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Findings:</a:t>
            </a:r>
            <a:endParaRPr sz="2400">
              <a:latin typeface="Tahoma"/>
              <a:cs typeface="Tahoma"/>
            </a:endParaRPr>
          </a:p>
          <a:p>
            <a:pPr marL="599440" lvl="1" indent="-208915">
              <a:lnSpc>
                <a:spcPct val="100000"/>
              </a:lnSpc>
              <a:spcBef>
                <a:spcPts val="1425"/>
              </a:spcBef>
              <a:buChar char="•"/>
              <a:tabLst>
                <a:tab pos="599440" algn="l"/>
              </a:tabLst>
            </a:pP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ahoma"/>
                <a:cs typeface="Tahoma"/>
              </a:rPr>
              <a:t>buying</a:t>
            </a:r>
            <a:r>
              <a:rPr sz="2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patterns</a:t>
            </a:r>
            <a:r>
              <a:rPr sz="2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identified</a:t>
            </a:r>
            <a:endParaRPr sz="2400">
              <a:latin typeface="Tahoma"/>
              <a:cs typeface="Tahoma"/>
            </a:endParaRPr>
          </a:p>
          <a:p>
            <a:pPr marL="599440" lvl="1" indent="-208915">
              <a:lnSpc>
                <a:spcPct val="100000"/>
              </a:lnSpc>
              <a:spcBef>
                <a:spcPts val="80"/>
              </a:spcBef>
              <a:buChar char="•"/>
              <a:tabLst>
                <a:tab pos="599440" algn="l"/>
              </a:tabLst>
            </a:pP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Top-</a:t>
            </a:r>
            <a:r>
              <a:rPr sz="2400" spc="114" dirty="0">
                <a:solidFill>
                  <a:srgbClr val="FFFFFF"/>
                </a:solidFill>
                <a:latin typeface="Tahoma"/>
                <a:cs typeface="Tahoma"/>
              </a:rPr>
              <a:t>performing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categories</a:t>
            </a:r>
            <a:r>
              <a:rPr sz="2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recognized</a:t>
            </a:r>
            <a:endParaRPr sz="2400">
              <a:latin typeface="Tahoma"/>
              <a:cs typeface="Tahoma"/>
            </a:endParaRPr>
          </a:p>
          <a:p>
            <a:pPr marL="599440" lvl="1" indent="-208915">
              <a:lnSpc>
                <a:spcPct val="100000"/>
              </a:lnSpc>
              <a:spcBef>
                <a:spcPts val="85"/>
              </a:spcBef>
              <a:buChar char="•"/>
              <a:tabLst>
                <a:tab pos="599440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Revenue</a:t>
            </a:r>
            <a:r>
              <a:rPr sz="24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ahoma"/>
                <a:cs typeface="Tahoma"/>
              </a:rPr>
              <a:t>trends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analyzed</a:t>
            </a:r>
            <a:endParaRPr sz="2400">
              <a:latin typeface="Tahoma"/>
              <a:cs typeface="Tahoma"/>
            </a:endParaRPr>
          </a:p>
          <a:p>
            <a:pPr marL="599440" lvl="1" indent="-208915">
              <a:lnSpc>
                <a:spcPct val="100000"/>
              </a:lnSpc>
              <a:spcBef>
                <a:spcPts val="80"/>
              </a:spcBef>
              <a:buChar char="•"/>
              <a:tabLst>
                <a:tab pos="599440" algn="l"/>
              </a:tabLst>
            </a:pP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24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opportunities</a:t>
            </a:r>
            <a:r>
              <a:rPr sz="24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Tahoma"/>
                <a:cs typeface="Tahoma"/>
              </a:rPr>
              <a:t>discovered</a:t>
            </a: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Clr>
                <a:srgbClr val="FFFFFF"/>
              </a:buClr>
              <a:buFont typeface="Tahoma"/>
              <a:buChar char="•"/>
            </a:pP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65"/>
              </a:spcBef>
              <a:buClr>
                <a:srgbClr val="FFFFFF"/>
              </a:buClr>
              <a:buFont typeface="Tahoma"/>
              <a:buChar char="•"/>
            </a:pPr>
            <a:endParaRPr sz="2400">
              <a:latin typeface="Tahoma"/>
              <a:cs typeface="Tahoma"/>
            </a:endParaRPr>
          </a:p>
          <a:p>
            <a:pPr marL="390525" marR="5080" indent="-377825">
              <a:lnSpc>
                <a:spcPct val="101000"/>
              </a:lnSpc>
              <a:buChar char="•"/>
              <a:tabLst>
                <a:tab pos="390525" algn="l"/>
              </a:tabLst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helps</a:t>
            </a:r>
            <a:r>
              <a:rPr sz="2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ahoma"/>
                <a:cs typeface="Tahoma"/>
              </a:rPr>
              <a:t>improve</a:t>
            </a:r>
            <a:r>
              <a:rPr sz="2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decision-</a:t>
            </a:r>
            <a:r>
              <a:rPr sz="2400" spc="90" dirty="0">
                <a:solidFill>
                  <a:srgbClr val="FFFFFF"/>
                </a:solidFill>
                <a:latin typeface="Tahoma"/>
                <a:cs typeface="Tahoma"/>
              </a:rPr>
              <a:t>making</a:t>
            </a:r>
            <a:r>
              <a:rPr sz="2400" spc="2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400" spc="11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satisfaction.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719</Words>
  <Application>Microsoft Office PowerPoint</Application>
  <PresentationFormat>Custom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MT</vt:lpstr>
      <vt:lpstr>Symbol</vt:lpstr>
      <vt:lpstr>Tahoma</vt:lpstr>
      <vt:lpstr>Verdana</vt:lpstr>
      <vt:lpstr>Office Theme</vt:lpstr>
      <vt:lpstr>E-Commerce Customer Purchase Behaviour Analysis</vt:lpstr>
      <vt:lpstr>Introduction</vt:lpstr>
      <vt:lpstr>Dataset Information</vt:lpstr>
      <vt:lpstr>Project Flow</vt:lpstr>
      <vt:lpstr>Project Objectives</vt:lpstr>
      <vt:lpstr>Objective 1: Data Preparation and Transformation</vt:lpstr>
      <vt:lpstr>Objective 2 : Data Modeling and Relationship Building</vt:lpstr>
      <vt:lpstr>Objective 3 : Customer Purchase Behavior Analysis</vt:lpstr>
      <vt:lpstr>Objective 4 : KPI Development and Business Insight Generation</vt:lpstr>
      <vt:lpstr>PowerPoint Presentation</vt:lpstr>
      <vt:lpstr>Objective 5 : Interactive Dashboard Development and Storytelling</vt:lpstr>
      <vt:lpstr>GenAI Usage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PRANAV BHOSALE</dc:creator>
  <dc:description/>
  <cp:lastModifiedBy>Pranav Bhosale</cp:lastModifiedBy>
  <cp:revision>2</cp:revision>
  <dcterms:created xsi:type="dcterms:W3CDTF">2026-07-26T17:24:21Z</dcterms:created>
  <dcterms:modified xsi:type="dcterms:W3CDTF">2026-07-26T17:31:34Z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2026-07-26T00:00:00Z</vt:filetime>
  </property>
  <property fmtid="{D5CDD505-2E9C-101B-9397-08002B2CF9AE}" pid="6" name="SourceModified">
    <vt:lpwstr>D:20260605195739+05'30'</vt:lpwstr>
  </property>
</Properties>
</file>